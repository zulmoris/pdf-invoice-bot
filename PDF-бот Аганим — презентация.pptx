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6012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6868B"/>
                </a:solidFill>
                <a:latin typeface="Segoe UI"/>
              </a:rPr>
              <a:t>СИСТЕМА УЧЁТА СЧЁТОВ ДЛЯ САЛОНОВ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38728" y="1600200"/>
            <a:ext cx="512064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739896" y="176479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09059" y="176479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78224" y="176479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57016" y="1984248"/>
            <a:ext cx="508406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87568" y="21031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0A84FF"/>
          </a:solidFill>
          <a:ln>
            <a:noFill/>
          </a:ln>
          <a:effectLst>
            <a:outerShdw blurRad="120000" dist="2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258568"/>
            <a:ext cx="310896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98464" y="2368296"/>
            <a:ext cx="201168" cy="32004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98464" y="2478024"/>
            <a:ext cx="201168" cy="32004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98464" y="2587752"/>
            <a:ext cx="201168" cy="32004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30815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1D1D1F"/>
                </a:solidFill>
                <a:latin typeface="Segoe UI"/>
              </a:rPr>
              <a:t>PDF-бот Аганим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3611880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0" i="0">
                <a:solidFill>
                  <a:srgbClr val="6E6E73"/>
                </a:solidFill>
                <a:latin typeface="Segoe UI"/>
              </a:rPr>
              <a:t>Счёт из PDF попадает в Google-таблицу,
уведомления уходят в Telegram — без ручного ввода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96128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4332427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E6E73"/>
                </a:solidFill>
                <a:latin typeface="Segoe UI"/>
              </a:rPr>
              <a:t>версия 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29107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  <a:latin typeface="Segoe UI"/>
              </a:rPr>
              <a:t>Аганим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ЗНАКОМАЯ СИТУАЦИЯ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Счёт съедает время всей 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Каждый PDF — это ручной перенос цифр в несколько мест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6868B"/>
                </a:solidFill>
                <a:latin typeface="Segoe UI"/>
              </a:rPr>
              <a:t>Как это выглядит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A84FF"/>
                </a:solidFill>
                <a:latin typeface="Segoe UI"/>
              </a:rPr>
              <a:t>~15 мин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9514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E6E73"/>
                </a:solidFill>
                <a:latin typeface="Segoe UI"/>
              </a:rPr>
              <a:t>уходит на перенос одного счёта в таблицу (пример)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A84FF"/>
                </a:solidFill>
                <a:latin typeface="Segoe UI"/>
              </a:rPr>
              <a:t>3 места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52958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E6E73"/>
                </a:solidFill>
                <a:latin typeface="Segoe UI"/>
              </a:rPr>
              <a:t>где живут одни и те же цифры: PDF, таблица, мессенджер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A84FF"/>
                </a:solidFill>
                <a:latin typeface="Segoe UI"/>
              </a:rPr>
              <a:t>0 напоминаний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764024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E6E73"/>
                </a:solidFill>
                <a:latin typeface="Segoe UI"/>
              </a:rPr>
              <a:t>клиент узнаёт о приходе, только если менеджер вспомнил позвонить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74519"/>
            <a:ext cx="4754880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84848" y="203911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54012" y="203911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23176" y="203911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1968" y="2258568"/>
            <a:ext cx="471830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38527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86868B"/>
                </a:solidFill>
                <a:latin typeface="Segoe UI"/>
              </a:rPr>
              <a:t>Менеджер · типичный счёт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44144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242316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D8A34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427732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Segoe UI"/>
              </a:rPr>
              <a:t>Открыть PDF и найти номер, дату, клиента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300837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299008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D8A34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994660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Segoe UI"/>
              </a:rPr>
              <a:t>Переписать позиции в Google-таблицу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57530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5432" y="3557016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D8A34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561588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Segoe UI"/>
              </a:rPr>
              <a:t>Посчитать бонус дизайнеру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4142232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412394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5F57"/>
                </a:solidFill>
                <a:latin typeface="Segoe UI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128516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Segoe UI"/>
              </a:rPr>
              <a:t>Написать дизайнеру о счёте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4709160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5432" y="4690872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5F57"/>
                </a:solidFill>
                <a:latin typeface="Segoe UI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695444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Segoe UI"/>
              </a:rPr>
              <a:t>Позвонить клиенту, когда придёт товар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321808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310835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5F57"/>
                </a:solidFill>
                <a:latin typeface="Segoe UI"/>
              </a:rPr>
              <a:t>Последние два шага часто забывают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Менеджер сохраняет PDF — дальше всё происходит само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9135" y="2377440"/>
            <a:ext cx="195681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799" y="2139696"/>
            <a:ext cx="475488" cy="475488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9799" y="21031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575" y="2761488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D1D1F"/>
                </a:solidFill>
                <a:latin typeface="Segoe UI"/>
              </a:rPr>
              <a:t>PDF-счёт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151" y="3127248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менеджер сохраняет файл в рабочую папку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8519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8287" y="2377440"/>
            <a:ext cx="195681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8951" y="2139696"/>
            <a:ext cx="475488" cy="475488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8951" y="21031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9727" y="2761488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D1D1F"/>
                </a:solidFill>
                <a:latin typeface="Segoe UI"/>
              </a:rPr>
              <a:t>PDF-бот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6303" y="3127248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читает номер, дату, клиента, телефон и сумму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7671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7439" y="2377440"/>
            <a:ext cx="195681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58103" y="2139696"/>
            <a:ext cx="475488" cy="475488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8103" y="21031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8879" y="2761488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D1D1F"/>
                </a:solidFill>
                <a:latin typeface="Segoe UI"/>
              </a:rPr>
              <a:t>Google-таблица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5455" y="3127248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строки счетов, бонусы, детализация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6823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6591" y="2377440"/>
            <a:ext cx="195681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7255" y="2139696"/>
            <a:ext cx="475488" cy="475488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7255" y="21031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8031" y="2761488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D1D1F"/>
                </a:solidFill>
                <a:latin typeface="Segoe UI"/>
              </a:rPr>
              <a:t>Apps 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4607" y="3127248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следит за приходом и событиями таблицы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5975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Segoe U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35743" y="2377440"/>
            <a:ext cx="1956816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76407" y="2139696"/>
            <a:ext cx="475488" cy="475488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76407" y="21031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7183" y="2761488"/>
            <a:ext cx="1773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1D1D1F"/>
                </a:solidFill>
                <a:latin typeface="Segoe UI"/>
              </a:rPr>
              <a:t>Telegram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3759" y="3127248"/>
            <a:ext cx="17007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уведомления команде, дизайнерам и клиентам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86868B"/>
                </a:solidFill>
                <a:latin typeface="Segoe UI"/>
              </a:rPr>
              <a:t>Что нужно: ПК менеджера с ботом · Google-таблица · Telegram-бот. Настройка — один раз.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ШАГ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Просто сохранить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Бот следит за папкой и сам открывает окно ввода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603504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292" y="21305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2456" y="21305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50008"/>
            <a:ext cx="599846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7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86868B"/>
                </a:solidFill>
                <a:latin typeface="Segoe UI"/>
              </a:rPr>
              <a:t>Счета — Finder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560320"/>
            <a:ext cx="1371600" cy="3291840"/>
          </a:xfrm>
          <a:prstGeom prst="roundRect">
            <a:avLst>
              <a:gd name="adj" fmla="val 10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6609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Рабочий стол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6324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Документы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483863"/>
            <a:ext cx="1243584" cy="310896"/>
          </a:xfrm>
          <a:prstGeom prst="roundRect">
            <a:avLst>
              <a:gd name="adj" fmla="val 25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46557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Счета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6791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>Загрузки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2697479"/>
            <a:ext cx="256032" cy="329184"/>
          </a:xfrm>
          <a:prstGeom prst="roundRect">
            <a:avLst>
              <a:gd name="adj" fmla="val 6000"/>
            </a:avLst>
          </a:prstGeom>
          <a:solidFill>
            <a:srgbClr val="D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263347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Счёт №1041 — Смирнова.pdf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871215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6868B"/>
                </a:solidFill>
                <a:latin typeface="Segoe UI"/>
              </a:rPr>
              <a:t>вчера, 17:40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78608" y="3319272"/>
            <a:ext cx="3931920" cy="566928"/>
          </a:xfrm>
          <a:prstGeom prst="roundRect">
            <a:avLst>
              <a:gd name="adj" fmla="val 15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51760" y="3410711"/>
            <a:ext cx="256032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3346703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Счёт №1042 — Иванова.pdf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5844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DE4FF"/>
                </a:solidFill>
                <a:latin typeface="Segoe UI"/>
              </a:rPr>
              <a:t>сейчас добавлен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4123944"/>
            <a:ext cx="256032" cy="329184"/>
          </a:xfrm>
          <a:prstGeom prst="roundRect">
            <a:avLst>
              <a:gd name="adj" fmla="val 6000"/>
            </a:avLst>
          </a:prstGeom>
          <a:solidFill>
            <a:srgbClr val="D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405993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Счёт №1043 — Кузнецов.pdf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2976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86868B"/>
                </a:solidFill>
                <a:latin typeface="Segoe UI"/>
              </a:rPr>
              <a:t>2 дня назад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90118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A84FF"/>
                </a:solidFill>
                <a:latin typeface="Segoe UI"/>
              </a:rPr>
              <a:t>Бот заметил новый файл за секунду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21488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2130552"/>
            <a:ext cx="310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8A34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112264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1D1F"/>
                </a:solidFill>
                <a:latin typeface="Segoe UI"/>
              </a:rPr>
              <a:t>Значок в трее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44144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E73"/>
                </a:solidFill>
                <a:latin typeface="Segoe UI"/>
              </a:rPr>
              <a:t>бот работает в фоне, ничего нажимать не нужно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331927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300984"/>
            <a:ext cx="310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8A34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282696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1D1F"/>
                </a:solidFill>
                <a:latin typeface="Segoe UI"/>
              </a:rPr>
              <a:t>Читает PDF сам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3611879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E73"/>
                </a:solidFill>
                <a:latin typeface="Segoe UI"/>
              </a:rPr>
              <a:t>номер, дата, клиент, телефон, сумма позиций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4489704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4471416"/>
            <a:ext cx="310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8A34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44531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1D1F"/>
                </a:solidFill>
                <a:latin typeface="Segoe UI"/>
              </a:rPr>
              <a:t>Окно — само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78231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6E6E73"/>
                </a:solidFill>
                <a:latin typeface="Segoe UI"/>
              </a:rPr>
              <a:t>как только файл появился, открывается ввод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ШАГ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Проверить и дополнить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Большинство полей уже заполнены из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694944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292" y="208483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2456" y="208483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04288"/>
            <a:ext cx="691286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8424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86868B"/>
                </a:solidFill>
                <a:latin typeface="Segoe UI"/>
              </a:rPr>
              <a:t>Счёт №1042 — Иванова · PDF-бот Аганим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871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6868B"/>
                </a:solidFill>
                <a:latin typeface="Segoe UI"/>
              </a:rPr>
              <a:t>КЛИЕНТ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724912"/>
            <a:ext cx="3017520" cy="384048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272491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D1D1F"/>
                </a:solidFill>
                <a:latin typeface="Segoe UI"/>
              </a:rPr>
              <a:t>Иванова Анна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272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A84FF"/>
                </a:solidFill>
                <a:latin typeface="Segoe UI"/>
              </a:rPr>
              <a:t>из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871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6868B"/>
                </a:solidFill>
                <a:latin typeface="Segoe UI"/>
              </a:rPr>
              <a:t>ТЕЛЕФОН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24912"/>
            <a:ext cx="3017520" cy="384048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72491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D1D1F"/>
                </a:solidFill>
                <a:latin typeface="Segoe UI"/>
              </a:rPr>
              <a:t>+7 900 123-45-67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1272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A84FF"/>
                </a:solidFill>
                <a:latin typeface="Segoe UI"/>
              </a:rPr>
              <a:t>найден в базе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38328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6868B"/>
                </a:solidFill>
                <a:latin typeface="Segoe UI"/>
              </a:rPr>
              <a:t>ПОЗИЦИЙ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621024"/>
            <a:ext cx="3017520" cy="384048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" y="362102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D1D1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233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A84FF"/>
                </a:solidFill>
                <a:latin typeface="Segoe UI"/>
              </a:rPr>
              <a:t>из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38328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6868B"/>
                </a:solidFill>
                <a:latin typeface="Segoe UI"/>
              </a:rPr>
              <a:t>ДИЗАЙНЕР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621024"/>
            <a:ext cx="3017520" cy="384048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2855" y="362102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D1D1F"/>
                </a:solidFill>
                <a:latin typeface="Segoe UI"/>
              </a:rPr>
              <a:t>Петрова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0233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A84FF"/>
                </a:solidFill>
                <a:latin typeface="Segoe UI"/>
              </a:rPr>
              <a:t>подсказки при вводе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27939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6868B"/>
                </a:solidFill>
                <a:latin typeface="Segoe UI"/>
              </a:rPr>
              <a:t>МЕНЕДЖЕР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517136"/>
            <a:ext cx="3017520" cy="384048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1016" y="45171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D1D1F"/>
                </a:solidFill>
                <a:latin typeface="Segoe UI"/>
              </a:rPr>
              <a:t>Сидоров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1947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A84FF"/>
                </a:solidFill>
                <a:latin typeface="Segoe UI"/>
              </a:rPr>
              <a:t>обычно это вы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27939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6868B"/>
                </a:solidFill>
                <a:latin typeface="Segoe UI"/>
              </a:rPr>
              <a:t>ФОРМА ОПЛАТЫ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517136"/>
            <a:ext cx="3017520" cy="384048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5" y="45171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D1D1F"/>
                </a:solidFill>
                <a:latin typeface="Segoe UI"/>
              </a:rPr>
              <a:t>оплата при получении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23036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9284" y="518464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20293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D1D1F"/>
                </a:solidFill>
                <a:latin typeface="Segoe UI"/>
              </a:rPr>
              <a:t>Клиент уже извещён об оплате — сегодня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06440" y="5193792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 w="9525">
            <a:solidFill>
              <a:srgbClr val="E5E5EA"/>
            </a:solidFill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5182819"/>
            <a:ext cx="914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Segoe UI"/>
              </a:rPr>
              <a:t>Отмена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519379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5182819"/>
            <a:ext cx="7772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Далее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103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6868B"/>
                </a:solidFill>
                <a:latin typeface="Segoe UI"/>
              </a:rPr>
              <a:t>Что уже заполнено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2514600"/>
            <a:ext cx="3063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262432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  <a:latin typeface="Segoe UI"/>
              </a:rPr>
              <a:t>6 полей из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291693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6E73"/>
                </a:solidFill>
                <a:latin typeface="Segoe UI"/>
              </a:rPr>
              <a:t>заполнены сами — седьмое лишь галочка извещения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3566160"/>
            <a:ext cx="3063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4192" y="3675887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  <a:latin typeface="Segoe UI"/>
              </a:rPr>
              <a:t>Телефон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396849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6E73"/>
                </a:solidFill>
                <a:latin typeface="Segoe UI"/>
              </a:rPr>
              <a:t>подтягивается из истории счетов клиента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4617720"/>
            <a:ext cx="3063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94192" y="472744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  <a:latin typeface="Segoe UI"/>
              </a:rPr>
              <a:t>Esc или крестик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94192" y="5020056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6E73"/>
                </a:solidFill>
                <a:latin typeface="Segoe UI"/>
              </a:rPr>
              <a:t>счёт не запишется, PDF останется на месте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ШАГ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Разделить по поставщикам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Одна строка на группу позиций — в любом формате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630936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292" y="21305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2456" y="21305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50008"/>
            <a:ext cx="627278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7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86868B"/>
                </a:solidFill>
                <a:latin typeface="Segoe UI"/>
              </a:rPr>
              <a:t>Позиции счёта №1042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146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Позиция 1 — стеллаж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98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98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Позиция 2 — стеллаж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826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8269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Позиция 3 — кресло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667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6674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Позиция 4 — кресло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06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6868B"/>
                </a:solidFill>
                <a:latin typeface="Segoe UI"/>
              </a:rPr>
              <a:t>РАСПРЕДЕЛЕНИЕ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453128"/>
            <a:ext cx="283464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3970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53128"/>
            <a:ext cx="2651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1,2 - ВИА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453128"/>
            <a:ext cx="27432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4453128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3,4 - Бонтон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0292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Писать можно как угодно: «1,2-ВИА», «1.2 - виа», «1, 2 - ВИА» — бот поймёт.
Enter — и позиции ушли своим поставщикам.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64184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egoe U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6868B"/>
                </a:solidFill>
                <a:latin typeface="Segoe UI"/>
              </a:rPr>
              <a:t>Что попадёт в таблицу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514600"/>
            <a:ext cx="3703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18120" y="267919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26682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6E73"/>
                </a:solidFill>
                <a:latin typeface="Segoe UI"/>
              </a:rPr>
              <a:t>№1042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267919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266821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0DF"/>
                </a:solidFill>
                <a:latin typeface="Segoe UI"/>
              </a:rPr>
              <a:t>ВИА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044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E6E73"/>
                </a:solidFill>
                <a:latin typeface="Segoe UI"/>
              </a:rPr>
              <a:t>поз. 1–2 · стеллаж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3657600"/>
            <a:ext cx="37033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18120" y="3822191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38112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E6E73"/>
                </a:solidFill>
                <a:latin typeface="Segoe UI"/>
              </a:rPr>
              <a:t>№1042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382219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381121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6E6E73"/>
                </a:solidFill>
                <a:latin typeface="Segoe UI"/>
              </a:rPr>
              <a:t>Бонтон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187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E6E73"/>
                </a:solidFill>
                <a:latin typeface="Segoe UI"/>
              </a:rPr>
              <a:t>поз. 3–4 · кресло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846320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6868B"/>
                </a:solidFill>
                <a:latin typeface="Segoe UI"/>
              </a:rPr>
              <a:t>Дальше — автоматически: строки в «Лист1», бонусы в «Детализацию», сообщение дизайнеру.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Счёт в таблице, бонус посчитан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Те же данные — сразу в учётной системе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758952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292" y="21305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2456" y="21305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50008"/>
            <a:ext cx="755294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7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86868B"/>
                </a:solidFill>
                <a:latin typeface="Segoe UI"/>
              </a:rPr>
              <a:t>Google-таблица · Лист1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514600"/>
            <a:ext cx="7031736" cy="384048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496312"/>
            <a:ext cx="6309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2496312"/>
            <a:ext cx="768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Дата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496312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Клиент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4216" y="2496312"/>
            <a:ext cx="1088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Дизайнер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496312"/>
            <a:ext cx="539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Поз.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51576" y="2496312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Поставщик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2496312"/>
            <a:ext cx="122529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Менеджер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6424" y="2898648"/>
            <a:ext cx="68580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2880360"/>
            <a:ext cx="6309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92224" y="2898648"/>
            <a:ext cx="82296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9656" y="2880360"/>
            <a:ext cx="768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10.09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5184" y="2898648"/>
            <a:ext cx="137160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42616" y="2880360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Иванова 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2898648"/>
            <a:ext cx="114300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14216" y="2880360"/>
            <a:ext cx="1088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Петрова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9784" y="2898648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2880360"/>
            <a:ext cx="539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24144" y="2898648"/>
            <a:ext cx="118872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51576" y="2880360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D8A34"/>
                </a:solidFill>
                <a:latin typeface="Segoe UI"/>
              </a:rPr>
              <a:t>ВИА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12864" y="2898648"/>
            <a:ext cx="128016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0296" y="2880360"/>
            <a:ext cx="122529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Сидоров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" y="3282696"/>
            <a:ext cx="68580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3856" y="3264408"/>
            <a:ext cx="6309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1042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92224" y="3282696"/>
            <a:ext cx="82296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19656" y="3264408"/>
            <a:ext cx="768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10.09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15184" y="3282696"/>
            <a:ext cx="137160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42616" y="3264408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Иванова А.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3282696"/>
            <a:ext cx="114300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14216" y="3264408"/>
            <a:ext cx="1088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Петрова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9784" y="3282696"/>
            <a:ext cx="59436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57216" y="3264408"/>
            <a:ext cx="539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24144" y="3282696"/>
            <a:ext cx="118872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51576" y="3264408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D8A34"/>
                </a:solidFill>
                <a:latin typeface="Segoe UI"/>
              </a:rPr>
              <a:t>Бонтон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12864" y="3282696"/>
            <a:ext cx="1280160" cy="384048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0296" y="3264408"/>
            <a:ext cx="122529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Сидоров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" y="3648456"/>
            <a:ext cx="6309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1041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19656" y="3648456"/>
            <a:ext cx="768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09.09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42616" y="3648456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Смирнова О.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14216" y="3648456"/>
            <a:ext cx="1088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Смирнова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7216" y="3648456"/>
            <a:ext cx="539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51576" y="3648456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ВИА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0296" y="3648456"/>
            <a:ext cx="122529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Сидоров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856" y="4032504"/>
            <a:ext cx="6309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1039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19656" y="4032504"/>
            <a:ext cx="7680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07.09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42616" y="4032504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Кузнецов Д.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14216" y="4032504"/>
            <a:ext cx="10881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Петрова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57216" y="4032504"/>
            <a:ext cx="539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51576" y="4032504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Бонтон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0296" y="4032504"/>
            <a:ext cx="122529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Сидоров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57800" y="4754879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57800" y="4743907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8A34"/>
                </a:solidFill>
                <a:latin typeface="Segoe UI"/>
              </a:rPr>
              <a:t>все позиции пришли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0" y="4754879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4743907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8A34"/>
                </a:solidFill>
                <a:latin typeface="Segoe UI"/>
              </a:rPr>
              <a:t>УВЕДОМЛЕНО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516636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Зелёная строка — по всем позициям заполнен приход. Как только заполнены все — в Telegram уходит уведомление.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86800" y="2148840"/>
            <a:ext cx="265176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69680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  <a:latin typeface="Segoe UI"/>
              </a:rPr>
              <a:t>Детализация · бонус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26700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Петрова · 4 позиции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0" y="3017520"/>
            <a:ext cx="2423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Сумма: 48 000 ₽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Ставка: 5%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Бонус: </a:t>
            </a:r>
            <a:r>
              <a:rPr sz="1500" b="1" i="0">
                <a:solidFill>
                  <a:srgbClr val="0A84FF"/>
                </a:solidFill>
                <a:latin typeface="Segoe UI"/>
              </a:rPr>
              <a:t>2 400 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452628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86868B"/>
                </a:solidFill>
                <a:latin typeface="Segoe UI"/>
              </a:rPr>
              <a:t>Оборот дизайнера от 500 000 ₽ за месяц — ставка 10%.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  <a:latin typeface="Segoe UI"/>
              </a:rPr>
              <a:t>Цифры в примере — иллюстративные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ДАШБОРД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Все счета под рукой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Отдельное окно с таблицей, статусами и действиями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292" y="21305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2456" y="21305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50008"/>
            <a:ext cx="1047902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68880"/>
            <a:ext cx="1051560" cy="310896"/>
          </a:xfrm>
          <a:prstGeom prst="roundRect">
            <a:avLst>
              <a:gd name="adj" fmla="val 25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5059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Segoe UI"/>
              </a:rPr>
              <a:t>Счета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45059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  <a:latin typeface="Segoe UI"/>
              </a:rPr>
              <a:t>Дизайнеры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45059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  <a:latin typeface="Segoe UI"/>
              </a:rPr>
              <a:t>Календарь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4780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467051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60DF"/>
                </a:solidFill>
                <a:latin typeface="Segoe UI"/>
              </a:rPr>
              <a:t>Все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47802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467051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D1D1F"/>
                </a:solidFill>
                <a:latin typeface="Segoe UI"/>
              </a:rPr>
              <a:t>Ожидаются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4780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467051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D8A34"/>
                </a:solidFill>
                <a:latin typeface="Segoe UI"/>
              </a:rPr>
              <a:t>Пришло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44144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430475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Отгружено сегодня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2926080"/>
            <a:ext cx="8951976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9576" y="2907792"/>
            <a:ext cx="768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2536" y="2907792"/>
            <a:ext cx="168249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Клиент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9896" y="2907792"/>
            <a:ext cx="13167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Дизайнер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1496" y="2907792"/>
            <a:ext cx="6309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Поз.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7296" y="2907792"/>
            <a:ext cx="14996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Поставщик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1775" y="2907792"/>
            <a:ext cx="15910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Приход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2907792"/>
            <a:ext cx="11338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egoe UI"/>
              </a:rPr>
              <a:t>Действие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52144" y="3346704"/>
            <a:ext cx="822960" cy="420624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9576" y="3328416"/>
            <a:ext cx="768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1042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75104" y="3346704"/>
            <a:ext cx="1737360" cy="420624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02536" y="3328416"/>
            <a:ext cx="168249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Иванова 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12463" y="3346704"/>
            <a:ext cx="1371600" cy="420624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9896" y="3328416"/>
            <a:ext cx="13167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Петрова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4064" y="3346704"/>
            <a:ext cx="685800" cy="420624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11496" y="3328416"/>
            <a:ext cx="6309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9864" y="3346704"/>
            <a:ext cx="1554480" cy="420624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97296" y="3328416"/>
            <a:ext cx="14996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ВИА + Бонтон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24344" y="3346704"/>
            <a:ext cx="1645920" cy="420624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5" y="3328416"/>
            <a:ext cx="15910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D8A34"/>
                </a:solidFill>
                <a:latin typeface="Segoe UI"/>
              </a:rPr>
              <a:t>все · 10.09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70264" y="3346704"/>
            <a:ext cx="1188720" cy="420624"/>
          </a:xfrm>
          <a:prstGeom prst="roundRect">
            <a:avLst>
              <a:gd name="adj" fmla="val 18000"/>
            </a:avLst>
          </a:prstGeom>
          <a:solidFill>
            <a:srgbClr val="E4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97696" y="3328416"/>
            <a:ext cx="11338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Изменить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9576" y="3749040"/>
            <a:ext cx="768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02536" y="3749040"/>
            <a:ext cx="168249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Смирнова О.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39896" y="3749040"/>
            <a:ext cx="13167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Смирнова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11496" y="3749040"/>
            <a:ext cx="6309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7296" y="3749040"/>
            <a:ext cx="14996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ВИА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51775" y="3749040"/>
            <a:ext cx="15910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060DF"/>
                </a:solidFill>
                <a:latin typeface="Segoe UI"/>
              </a:rPr>
              <a:t>ждём · 2 из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7696" y="3749040"/>
            <a:ext cx="11338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Изменить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52144" y="4187952"/>
            <a:ext cx="822960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79576" y="4169664"/>
            <a:ext cx="7680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1039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75104" y="4187952"/>
            <a:ext cx="1737360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02536" y="4169664"/>
            <a:ext cx="168249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Кузнецов Д.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12463" y="4187952"/>
            <a:ext cx="1371600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39896" y="4169664"/>
            <a:ext cx="13167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Петрова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84064" y="4187952"/>
            <a:ext cx="685800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11496" y="4169664"/>
            <a:ext cx="6309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69864" y="4187952"/>
            <a:ext cx="1554480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97296" y="4169664"/>
            <a:ext cx="14996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Бонтон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24344" y="4187952"/>
            <a:ext cx="1645920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51775" y="4169664"/>
            <a:ext cx="15910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D8A34"/>
                </a:solidFill>
                <a:latin typeface="Segoe UI"/>
              </a:rPr>
              <a:t>все · 07.09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70264" y="4187952"/>
            <a:ext cx="1188720" cy="420624"/>
          </a:xfrm>
          <a:prstGeom prst="roundRect">
            <a:avLst>
              <a:gd name="adj" fmla="val 18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7696" y="4169664"/>
            <a:ext cx="11338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D1D1F"/>
                </a:solidFill>
                <a:latin typeface="Segoe UI"/>
              </a:rPr>
              <a:t>Изменить</a:t>
            </a:r>
          </a:p>
        </p:txBody>
      </p:sp>
      <p:sp>
        <p:nvSpPr>
          <p:cNvPr id="66" name="Oval 65"/>
          <p:cNvSpPr/>
          <p:nvPr/>
        </p:nvSpPr>
        <p:spPr>
          <a:xfrm>
            <a:off x="1188720" y="5257799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89888" y="5175503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все позиции пришли</a:t>
            </a:r>
          </a:p>
        </p:txBody>
      </p:sp>
      <p:sp>
        <p:nvSpPr>
          <p:cNvPr id="68" name="Oval 67"/>
          <p:cNvSpPr/>
          <p:nvPr/>
        </p:nvSpPr>
        <p:spPr>
          <a:xfrm>
            <a:off x="3749040" y="5257799"/>
            <a:ext cx="128016" cy="12801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950208" y="517550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отгружено клиенту</a:t>
            </a:r>
          </a:p>
        </p:txBody>
      </p:sp>
      <p:sp>
        <p:nvSpPr>
          <p:cNvPr id="70" name="Oval 69"/>
          <p:cNvSpPr/>
          <p:nvPr/>
        </p:nvSpPr>
        <p:spPr>
          <a:xfrm>
            <a:off x="6126480" y="5257799"/>
            <a:ext cx="128016" cy="12801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27648" y="517550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ждём приход — у кого спросить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517550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Segoe UI"/>
              </a:rPr>
              <a:t>Кнопка «Изменить» — поправить даты прихода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ДАШБОРД · ВКЛАДКА «ДИЗАЙНЕРЫ»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Бонусы без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Ставка считается сама, выплата отмечается кнопкой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292" y="21305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2456" y="21305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50008"/>
            <a:ext cx="1047902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5059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  <a:latin typeface="Segoe UI"/>
              </a:rPr>
              <a:t>Счета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468880"/>
            <a:ext cx="1051560" cy="310896"/>
          </a:xfrm>
          <a:prstGeom prst="roundRect">
            <a:avLst>
              <a:gd name="adj" fmla="val 25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45059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Segoe UI"/>
              </a:rPr>
              <a:t>Дизайнеры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45059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  <a:latin typeface="Segoe UI"/>
              </a:rPr>
              <a:t>Календарь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2971800"/>
            <a:ext cx="45720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0815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Segoe UI"/>
              </a:rPr>
              <a:t>Петрова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401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26 счетов · 512 000 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2461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235147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0DF"/>
                </a:solidFill>
                <a:latin typeface="Segoe UI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91256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84FF"/>
                </a:solidFill>
                <a:latin typeface="Segoe UI"/>
              </a:rPr>
              <a:t>51 200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941064"/>
            <a:ext cx="45720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0507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Segoe UI"/>
              </a:rPr>
              <a:t>Смирнова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37083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12 счетов · 248 000 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4215384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204411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0DF"/>
                </a:solidFill>
                <a:latin typeface="Segoe UI"/>
              </a:rPr>
              <a:t>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160520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84FF"/>
                </a:solidFill>
                <a:latin typeface="Segoe UI"/>
              </a:rPr>
              <a:t>12 400 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4910328"/>
            <a:ext cx="45720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0200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Segoe UI"/>
              </a:rPr>
              <a:t>Кузнецова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3400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6E73"/>
                </a:solidFill>
                <a:latin typeface="Segoe UI"/>
              </a:rPr>
              <a:t>7 счетов · 62 000 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5184648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173675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0DF"/>
                </a:solidFill>
                <a:latin typeface="Segoe UI"/>
              </a:rP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129784"/>
            <a:ext cx="1005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A84FF"/>
                </a:solidFill>
                <a:latin typeface="Segoe UI"/>
              </a:rPr>
              <a:t>3 100 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2971800"/>
            <a:ext cx="49834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17296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D1D1F"/>
                </a:solidFill>
                <a:latin typeface="Segoe UI"/>
              </a:rPr>
              <a:t>Петрова — сентябрь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6118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egoe UI"/>
              </a:rPr>
              <a:t>Оборот за месяц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58444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512 000 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0142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egoe UI"/>
              </a:rPr>
              <a:t>Ставка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986784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10% — оборот выше 500 000 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4165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egoe UI"/>
              </a:rPr>
              <a:t>Бонус к выплате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38912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A84FF"/>
                </a:solidFill>
                <a:latin typeface="Segoe UI"/>
              </a:rPr>
              <a:t>51 200 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8188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egoe UI"/>
              </a:rPr>
              <a:t>Ожидаемая дата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7914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  <a:latin typeface="Segoe UI"/>
              </a:rPr>
              <a:t>5 октября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527608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265115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Выплачено 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527608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5265115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Отправить дизайнеру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715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6868B"/>
                </a:solidFill>
                <a:latin typeface="Segoe UI"/>
              </a:rPr>
              <a:t>готовое сообщение — копируется одной кнопкой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ДАШБОРД · ВКЛАДКА «КАЛЕНДАРЬ»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Календарь и напоминания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Звонки, заметки и сроки бонусов — в одном месте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85216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292" y="2130552"/>
            <a:ext cx="91440" cy="9144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62456" y="2130552"/>
            <a:ext cx="91440" cy="9144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2350008"/>
            <a:ext cx="5815584" cy="10058"/>
          </a:xfrm>
          <a:prstGeom prst="rect">
            <a:avLst/>
          </a:prstGeom>
          <a:solidFill>
            <a:srgbClr val="E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7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86868B"/>
                </a:solidFill>
                <a:latin typeface="Segoe UI"/>
              </a:rPr>
              <a:t>Сентябрь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86868B"/>
                </a:solidFill>
                <a:latin typeface="Segoe UI"/>
              </a:rPr>
              <a:t>Пн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56032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86868B"/>
                </a:solidFill>
                <a:latin typeface="Segoe UI"/>
              </a:rPr>
              <a:t>Вт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256032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86868B"/>
                </a:solidFill>
                <a:latin typeface="Segoe UI"/>
              </a:rPr>
              <a:t>Ср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5" y="256032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86868B"/>
                </a:solidFill>
                <a:latin typeface="Segoe UI"/>
              </a:rPr>
              <a:t>Чт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256032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86868B"/>
                </a:solidFill>
                <a:latin typeface="Segoe UI"/>
              </a:rPr>
              <a:t>Пт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6032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86868B"/>
                </a:solidFill>
                <a:latin typeface="Segoe UI"/>
              </a:rPr>
              <a:t>Сб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256032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86868B"/>
                </a:solidFill>
                <a:latin typeface="Segoe UI"/>
              </a:rPr>
              <a:t>Вс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2944368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2944368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5" y="2944368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944368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44368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2944368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51129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351129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5184" y="351129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9</a:t>
            </a:r>
          </a:p>
        </p:txBody>
      </p:sp>
      <p:sp>
        <p:nvSpPr>
          <p:cNvPr id="28" name="Oval 27"/>
          <p:cNvSpPr/>
          <p:nvPr/>
        </p:nvSpPr>
        <p:spPr>
          <a:xfrm>
            <a:off x="3511295" y="3493008"/>
            <a:ext cx="347472" cy="347472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28415" y="351129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351129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11</a:t>
            </a:r>
          </a:p>
        </p:txBody>
      </p:sp>
      <p:sp>
        <p:nvSpPr>
          <p:cNvPr id="31" name="Oval 30"/>
          <p:cNvSpPr/>
          <p:nvPr/>
        </p:nvSpPr>
        <p:spPr>
          <a:xfrm>
            <a:off x="4370831" y="3858768"/>
            <a:ext cx="54864" cy="54864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51129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3511296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078224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1952" y="4078224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15</a:t>
            </a:r>
          </a:p>
        </p:txBody>
      </p:sp>
      <p:sp>
        <p:nvSpPr>
          <p:cNvPr id="36" name="Oval 35"/>
          <p:cNvSpPr/>
          <p:nvPr/>
        </p:nvSpPr>
        <p:spPr>
          <a:xfrm>
            <a:off x="2231136" y="4425696"/>
            <a:ext cx="54864" cy="54864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5184" y="4078224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8415" y="4078224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1648" y="4078224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18</a:t>
            </a:r>
          </a:p>
        </p:txBody>
      </p:sp>
      <p:sp>
        <p:nvSpPr>
          <p:cNvPr id="40" name="Oval 39"/>
          <p:cNvSpPr/>
          <p:nvPr/>
        </p:nvSpPr>
        <p:spPr>
          <a:xfrm>
            <a:off x="4370831" y="4425696"/>
            <a:ext cx="54864" cy="54864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4078224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078224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645151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1952" y="4645151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15184" y="4645151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28415" y="4645151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41648" y="4645151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4645151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68112" y="4645151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5212080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01952" y="5212080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5184" y="5212080"/>
            <a:ext cx="7132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1D1D1F"/>
                </a:solidFill>
                <a:latin typeface="Segoe UI"/>
              </a:rPr>
              <a:t>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21031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6868B"/>
                </a:solidFill>
                <a:latin typeface="Segoe UI"/>
              </a:rPr>
              <a:t>События на этой неделе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78040" y="251460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360920" y="2697480"/>
            <a:ext cx="128016" cy="128016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07808" y="26243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Срок бонуса — Петрова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29900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Segoe UI"/>
              </a:rPr>
              <a:t>11 сен, пт · появляется сам при расчёте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78040" y="3593591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60920" y="3776472"/>
            <a:ext cx="128016" cy="12801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7808" y="3703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15:00 — позвонить Ивановой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20" y="406907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Segoe UI"/>
              </a:rPr>
              <a:t>15 сен, вт · заметка по счёту №1042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78040" y="4672583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60920" y="4855464"/>
            <a:ext cx="128016" cy="12801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7808" y="47823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egoe UI"/>
              </a:rPr>
              <a:t>Оплата поставщику — Бонтон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60920" y="5148071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E6E73"/>
                </a:solidFill>
                <a:latin typeface="Segoe UI"/>
              </a:rPr>
              <a:t>18 сен, пт · заметка менеджера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5769863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6868B"/>
                </a:solidFill>
                <a:latin typeface="Segoe UI"/>
              </a:rPr>
              <a:t>Клик по дню — добавить событие. Напоминания всплывают при открытии дашборда.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УВЕДОМЛЕНИЯ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Telegram: все в курсе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Клиенту — кнопки, команде — события, вам — заявки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874519"/>
            <a:ext cx="3017520" cy="4663440"/>
          </a:xfrm>
          <a:prstGeom prst="roundRect">
            <a:avLst>
              <a:gd name="adj" fmla="val 14000"/>
            </a:avLst>
          </a:prstGeom>
          <a:solidFill>
            <a:srgbClr val="3A3A3C"/>
          </a:solidFill>
          <a:ln>
            <a:noFill/>
          </a:ln>
          <a:effectLst>
            <a:outerShdw blurRad="130000" dist="30000" dir="54000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61288" y="1984248"/>
            <a:ext cx="2798063" cy="4443983"/>
          </a:xfrm>
          <a:prstGeom prst="roundRect">
            <a:avLst>
              <a:gd name="adj" fmla="val 10000"/>
            </a:avLst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2020824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2585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1D1D1F"/>
                </a:solidFill>
                <a:latin typeface="Segoe UI"/>
              </a:rPr>
              <a:t>Бот Аганим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651760"/>
            <a:ext cx="2240279" cy="658368"/>
          </a:xfrm>
          <a:prstGeom prst="roundRect">
            <a:avLst>
              <a:gd name="adj" fmla="val 1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19" y="2724912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D1D1F"/>
                </a:solidFill>
                <a:latin typeface="Segoe UI"/>
              </a:rPr>
              <a:t>Счёт №1042:
все позиции пришли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410711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BFF"/>
            </a:solidFill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399739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0DF"/>
                </a:solidFill>
                <a:latin typeface="Segoe UI"/>
              </a:rPr>
              <a:t>Заказать доставку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3813048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BFF"/>
            </a:solidFill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802075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0DF"/>
                </a:solidFill>
                <a:latin typeface="Segoe UI"/>
              </a:rPr>
              <a:t>Заберу сам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4215383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BFF"/>
            </a:solidFill>
          </a:ln>
          <a:effectLst>
            <a:outerShdw blurRad="60000" dist="1500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04411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60DF"/>
                </a:solidFill>
                <a:latin typeface="Segoe UI"/>
              </a:rPr>
              <a:t>Свяжитесь со мной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39" y="4709160"/>
            <a:ext cx="2148839" cy="384048"/>
          </a:xfrm>
          <a:prstGeom prst="roundRect">
            <a:avLst>
              <a:gd name="adj" fmla="val 16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70916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Заберу сам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239512"/>
            <a:ext cx="2240279" cy="603504"/>
          </a:xfrm>
          <a:prstGeom prst="roundRect">
            <a:avLst>
              <a:gd name="adj" fmla="val 16000"/>
            </a:avLst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19" y="5312664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Менеджеру: КЛИЕНТ
ЗАБЕРЁТ САМ · №1042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103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D1D1F"/>
                </a:solidFill>
                <a:latin typeface="Segoe UI"/>
              </a:rPr>
              <a:t>Менеджеру счёта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432303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приход товара и события по его счетам — лично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0723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D1D1F"/>
                </a:solidFill>
                <a:latin typeface="Segoe UI"/>
              </a:rPr>
              <a:t>Дизайнеру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401568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новый счёт и начисленный бонус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041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D1D1F"/>
                </a:solidFill>
                <a:latin typeface="Segoe UI"/>
              </a:rPr>
              <a:t>Главный рабочий чат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370832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заявки на доставку, «заберу сам», тревоги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0109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D1D1F"/>
                </a:solidFill>
                <a:latin typeface="Segoe UI"/>
              </a:rPr>
              <a:t>Привязка людей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340096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человек пишет /start — chat_id попадает в лист «Telegram ID»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148840"/>
            <a:ext cx="310896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3774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86868B"/>
                </a:solidFill>
                <a:latin typeface="Segoe UI"/>
              </a:rPr>
              <a:t>Почему через таблицу</a:t>
            </a:r>
          </a:p>
        </p:txBody>
      </p:sp>
      <p:sp>
        <p:nvSpPr>
          <p:cNvPr id="32" name="Oval 31"/>
          <p:cNvSpPr/>
          <p:nvPr/>
        </p:nvSpPr>
        <p:spPr>
          <a:xfrm>
            <a:off x="8503920" y="2816352"/>
            <a:ext cx="91440" cy="9144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272491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api.telegram.org может быть закрыт на рабочих ПК</a:t>
            </a:r>
          </a:p>
        </p:txBody>
      </p:sp>
      <p:sp>
        <p:nvSpPr>
          <p:cNvPr id="34" name="Oval 33"/>
          <p:cNvSpPr/>
          <p:nvPr/>
        </p:nvSpPr>
        <p:spPr>
          <a:xfrm>
            <a:off x="8503920" y="3502152"/>
            <a:ext cx="91440" cy="9144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05088" y="341071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Apps Script шлёт сообщения из облака Google</a:t>
            </a:r>
          </a:p>
        </p:txBody>
      </p:sp>
      <p:sp>
        <p:nvSpPr>
          <p:cNvPr id="36" name="Oval 35"/>
          <p:cNvSpPr/>
          <p:nvPr/>
        </p:nvSpPr>
        <p:spPr>
          <a:xfrm>
            <a:off x="8503920" y="4187952"/>
            <a:ext cx="91440" cy="9144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088" y="409651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73"/>
                </a:solidFill>
                <a:latin typeface="Segoe UI"/>
              </a:rPr>
              <a:t>история уведомлений связана с данными таблицы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НАДЁЖНОСТЬ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Данные под защитой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Бэкапы и контроль встроены в таблицу — включаются один раз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A84FF"/>
                </a:solidFill>
                <a:latin typeface="Segoe UI"/>
              </a:rPr>
              <a:t>23:23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906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6868B"/>
                </a:solidFill>
                <a:latin typeface="Segoe UI"/>
              </a:rPr>
              <a:t>ЕЖЕДНЕВНО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полный бэкап таблицы на Google Drive, папка «Аганим — Бэкапы»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A84FF"/>
                </a:solidFill>
                <a:latin typeface="Segoe UI"/>
              </a:rPr>
              <a:t>30 дней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0906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6868B"/>
                </a:solidFill>
                <a:latin typeface="Segoe UI"/>
              </a:rPr>
              <a:t>ХРАНЕНИЕ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2900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автоматическое удаление старых копий, восстановление из бэкапа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A84FF"/>
                </a:solidFill>
                <a:latin typeface="Segoe UI"/>
              </a:rPr>
              <a:t>1 час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906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6868B"/>
                </a:solidFill>
                <a:latin typeface="Segoe UI"/>
              </a:rPr>
              <a:t>СНАПШОТ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29000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73"/>
                </a:solidFill>
                <a:latin typeface="Segoe UI"/>
              </a:rPr>
              <a:t>почасовой слайд данных — быстрый откат функцией restoreFromSnapshot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09160"/>
            <a:ext cx="10561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43000" y="5074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63947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5F57"/>
                </a:solidFill>
                <a:latin typeface="Segoe UI"/>
              </a:rPr>
              <a:t>Тревога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956048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E6E73"/>
                </a:solidFill>
                <a:latin typeface="Segoe UI"/>
              </a:rPr>
              <a:t>Удаление строк или столбцов блокируется предупреждением. </a:t>
            </a:r>
            <a:r>
              <a:rPr sz="1300" b="0" i="0">
                <a:solidFill>
                  <a:srgbClr val="6E6E73"/>
                </a:solidFill>
                <a:latin typeface="Segoe UI"/>
              </a:rPr>
              <a:t>Если всё же удалили — мгновенная аварийная копия и алерт</a:t>
            </a:r>
            <a:r>
              <a:rPr sz="1300" b="1" i="0">
                <a:solidFill>
                  <a:srgbClr val="1D1D1F"/>
                </a:solidFill>
                <a:latin typeface="Segoe UI"/>
              </a:rPr>
              <a:t> с email нарушителя</a:t>
            </a:r>
            <a:r>
              <a:rPr sz="1300" b="0" i="0">
                <a:solidFill>
                  <a:srgbClr val="6E6E73"/>
                </a:solidFill>
                <a:latin typeface="Segoe UI"/>
              </a:rPr>
              <a:t> в главный Telegram.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6868B"/>
                </a:solidFill>
                <a:latin typeface="Segoe UI"/>
              </a:rPr>
              <a:t>Включается запуском функции setupBackupSystem в Apps Script — один раз на таблицу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A84FF"/>
                </a:solidFill>
                <a:latin typeface="Segoe UI"/>
              </a:rPr>
              <a:t>РАЗВЁРТЫВАНИЕ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 i="0">
                <a:solidFill>
                  <a:srgbClr val="1D1D1F"/>
                </a:solidFill>
                <a:latin typeface="Segoe UI"/>
              </a:rPr>
              <a:t>Запуск на новом объекте — за один день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6868B"/>
                </a:solidFill>
                <a:latin typeface="Segoe UI"/>
              </a:rPr>
              <a:t>Четыре шага, каждый занимает минуты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95728"/>
            <a:ext cx="457200" cy="45720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323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D1D1F"/>
                </a:solidFill>
                <a:latin typeface="Segoe UI"/>
              </a:rPr>
              <a:t>Таблица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копия эталонной Google-таблицы на аккаунте объекта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470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31920" y="2395728"/>
            <a:ext cx="457200" cy="45720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323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D1D1F"/>
                </a:solidFill>
                <a:latin typeface="Segoe UI"/>
              </a:rPr>
              <a:t>Доступ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6324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key.json сервисного аккаунта — редактор таблицы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34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0" y="2395728"/>
            <a:ext cx="457200" cy="45720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4323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D1D1F"/>
                </a:solidFill>
                <a:latin typeface="Segoe UI"/>
              </a:rPr>
              <a:t>Установка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6324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setup.exe: бот, дашборд, ярлыки, автозапуск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398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86868B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1488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0" y="2395728"/>
            <a:ext cx="457200" cy="457200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3591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4323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1D1D1F"/>
                </a:solidFill>
                <a:latin typeface="Segoe UI"/>
              </a:rPr>
              <a:t>Telegram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063240"/>
            <a:ext cx="2057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Apps Script, токен бота, webhook, setupBackupSystem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526280"/>
            <a:ext cx="10561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A"/>
            </a:solidFill>
          </a:ln>
          <a:effectLst>
            <a:outerShdw blurRad="100000" dist="28000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709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Segoe UI"/>
              </a:rPr>
              <a:t>Каждой компании — своё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047488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В релизной сборке нет ни таблицы, ни ключей владельца: при первом запуске мастер просит ссылку на таблицу объекта.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09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D1D1F"/>
                </a:solidFill>
                <a:latin typeface="Segoe UI"/>
              </a:rPr>
              <a:t>Обновления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047488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73"/>
                </a:solidFill>
                <a:latin typeface="Segoe UI"/>
              </a:rPr>
              <a:t>update.exe находит установленную копию сам: остановил, заменил файлы, запустил обратно.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6868B"/>
                </a:solidFill>
                <a:latin typeface="Segoe UI"/>
              </a:rPr>
              <a:t>PDF-БОТ АГАНИМ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40280"/>
            <a:ext cx="121916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Порядок в счетах.
Без рутины.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069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A84FF"/>
                </a:solidFill>
                <a:latin typeface="Segoe UI"/>
              </a:rPr>
              <a:t>30 сек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6868B"/>
                </a:solidFill>
                <a:latin typeface="Segoe UI"/>
              </a:rPr>
              <a:t>на счёт вместо ~15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69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A84FF"/>
                </a:solidFill>
                <a:latin typeface="Segoe U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6868B"/>
                </a:solidFill>
                <a:latin typeface="Segoe UI"/>
              </a:rPr>
              <a:t>руточного переноса цифр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0690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0A84FF"/>
                </a:solidFill>
                <a:latin typeface="Segoe UI"/>
              </a:rPr>
              <a:t>1 день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6868B"/>
                </a:solidFill>
                <a:latin typeface="Segoe UI"/>
              </a:rPr>
              <a:t>на запуск на новом объекте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1407" y="5486400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1407" y="5475427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Живое демо — по запросу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86868B"/>
                </a:solidFill>
                <a:latin typeface="Segoe UI"/>
              </a:rPr>
              <a:t>Аганим · 2026 · v3.5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